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66" r:id="rId4"/>
    <p:sldId id="267" r:id="rId5"/>
    <p:sldId id="268" r:id="rId6"/>
    <p:sldId id="269" r:id="rId7"/>
    <p:sldId id="271" r:id="rId8"/>
    <p:sldId id="272" r:id="rId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60"/>
  </p:normalViewPr>
  <p:slideViewPr>
    <p:cSldViewPr showGuides="1">
      <p:cViewPr varScale="1">
        <p:scale>
          <a:sx n="124" d="100"/>
          <a:sy n="124" d="100"/>
        </p:scale>
        <p:origin x="120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9A6CE-1A35-4138-BD78-4998D0B1E1FE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22E20-9B92-4C56-B786-694281E7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64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跑道副本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996952"/>
            <a:ext cx="12192000" cy="1728192"/>
          </a:xfrm>
        </p:spPr>
        <p:txBody>
          <a:bodyPr/>
          <a:lstStyle>
            <a:lvl1pPr algn="r">
              <a:defRPr sz="45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797152"/>
            <a:ext cx="12192000" cy="2060848"/>
          </a:xfrm>
        </p:spPr>
        <p:txBody>
          <a:bodyPr>
            <a:normAutofit/>
          </a:bodyPr>
          <a:lstStyle>
            <a:lvl1pPr marL="0" indent="0" algn="r">
              <a:buNone/>
              <a:defRPr sz="2100">
                <a:solidFill>
                  <a:schemeClr val="accent1">
                    <a:lumMod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7640C3-94FB-8CDB-4C19-1CB7E1F736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152043" cy="89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4197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21DDF-13A2-49D4-85F6-8B62C10E5A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331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607219">
              <a:buNone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21DDF-13A2-49D4-85F6-8B62C10E5A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20887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 descr="跑道内页副本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519114"/>
            <a:ext cx="10972800" cy="82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412776"/>
            <a:ext cx="10972800" cy="50405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rtlCol="0">
            <a:normAutofit/>
          </a:bodyPr>
          <a:lstStyle/>
          <a:p>
            <a:pPr lvl="0">
              <a:spcBef>
                <a:spcPct val="30000"/>
              </a:spcBef>
              <a:buClr>
                <a:schemeClr val="hlink"/>
              </a:buClr>
            </a:pPr>
            <a:r>
              <a:rPr lang="zh-CN" altLang="en-US" dirty="0"/>
              <a:t>单击此处编辑母版文本样式</a:t>
            </a:r>
          </a:p>
          <a:p>
            <a:pPr lvl="1">
              <a:buSzPct val="80000"/>
            </a:pPr>
            <a:r>
              <a:rPr lang="zh-CN" altLang="en-US" dirty="0"/>
              <a:t>第二级</a:t>
            </a:r>
          </a:p>
          <a:p>
            <a:pPr lvl="2">
              <a:buClr>
                <a:schemeClr val="hlink"/>
              </a:buClr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>
              <a:buClr>
                <a:schemeClr val="hlink"/>
              </a:buClr>
            </a:pPr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4609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6099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4609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831FAC-57DB-4804-BDC5-52B7C095737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8" name="Text Box 46"/>
          <p:cNvSpPr txBox="1">
            <a:spLocks noChangeArrowheads="1"/>
          </p:cNvSpPr>
          <p:nvPr userDrawn="1"/>
        </p:nvSpPr>
        <p:spPr bwMode="auto">
          <a:xfrm>
            <a:off x="0" y="1"/>
            <a:ext cx="1219200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100" b="0" dirty="0">
                <a:solidFill>
                  <a:schemeClr val="bg1">
                    <a:lumMod val="65000"/>
                  </a:schemeClr>
                </a:solidFill>
                <a:effectLst/>
                <a:latin typeface="华文彩云" pitchFamily="2" charset="-122"/>
                <a:ea typeface="华文彩云" pitchFamily="2" charset="-122"/>
              </a:rPr>
              <a:t>软件构造  </a:t>
            </a:r>
            <a:r>
              <a:rPr lang="en-US" altLang="zh-CN" sz="2100" b="0" kern="1200" dirty="0">
                <a:solidFill>
                  <a:schemeClr val="bg1">
                    <a:lumMod val="65000"/>
                  </a:schemeClr>
                </a:solidFill>
                <a:effectLst/>
                <a:latin typeface="Stencil" pitchFamily="82" charset="0"/>
                <a:ea typeface="华文琥珀" pitchFamily="2" charset="-122"/>
                <a:cs typeface="+mn-cs"/>
              </a:rPr>
              <a:t>Software Construction</a:t>
            </a:r>
            <a:endParaRPr lang="zh-CN" altLang="en-US" sz="2100" b="0" kern="1200" dirty="0">
              <a:solidFill>
                <a:schemeClr val="bg1">
                  <a:lumMod val="65000"/>
                </a:schemeClr>
              </a:solidFill>
              <a:effectLst/>
              <a:latin typeface="Stencil" pitchFamily="82" charset="0"/>
              <a:ea typeface="华文琥珀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4" r:id="rId3"/>
  </p:sldLayoutIdLst>
  <p:transition>
    <p:fade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b="0" kern="1200">
          <a:solidFill>
            <a:srgbClr val="C00000"/>
          </a:solidFill>
          <a:effectLst/>
          <a:latin typeface="浪漫雅圆" pitchFamily="2" charset="-122"/>
          <a:ea typeface="浪漫雅圆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2400" b="0" kern="1200" dirty="0" smtClean="0">
          <a:solidFill>
            <a:schemeClr val="tx1"/>
          </a:solidFill>
          <a:effectLst/>
          <a:latin typeface="Times New Roman" pitchFamily="18" charset="0"/>
          <a:ea typeface="黑体" pitchFamily="49" charset="-122"/>
          <a:cs typeface="Times New Roman" pitchFamily="18" charset="0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21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2pPr>
      <a:lvl3pPr marL="9429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3pPr>
      <a:lvl4pPr marL="12858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4pPr>
      <a:lvl5pPr marL="16287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996952"/>
            <a:ext cx="9144000" cy="1008112"/>
          </a:xfrm>
        </p:spPr>
        <p:txBody>
          <a:bodyPr/>
          <a:lstStyle/>
          <a:p>
            <a:r>
              <a:rPr lang="zh-CN" altLang="en-US" dirty="0"/>
              <a:t>软件构造</a:t>
            </a:r>
            <a:r>
              <a:rPr lang="en-US" altLang="zh-CN" dirty="0"/>
              <a:t>-</a:t>
            </a:r>
            <a:r>
              <a:rPr lang="zh-CN" altLang="en-US" dirty="0"/>
              <a:t>实验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797152"/>
            <a:ext cx="9144000" cy="2060848"/>
          </a:xfrm>
        </p:spPr>
        <p:txBody>
          <a:bodyPr/>
          <a:lstStyle/>
          <a:p>
            <a:r>
              <a:rPr lang="zh-CN" altLang="en-US" dirty="0"/>
              <a:t>计算机学院</a:t>
            </a:r>
            <a:endParaRPr lang="en-US" altLang="zh-CN" dirty="0"/>
          </a:p>
          <a:p>
            <a:r>
              <a:rPr lang="zh-CN" altLang="en-US" dirty="0"/>
              <a:t>主讲：李增扬</a:t>
            </a:r>
            <a:endParaRPr lang="en-US" altLang="zh-CN" dirty="0"/>
          </a:p>
          <a:p>
            <a:r>
              <a:rPr lang="zh-CN" altLang="en-US" dirty="0"/>
              <a:t>邮箱：</a:t>
            </a:r>
            <a:r>
              <a:rPr lang="en-US" altLang="zh-CN" dirty="0"/>
              <a:t>306872279@qq.com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D329D-A00E-E613-D256-FCF48861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69501-F4E7-95CA-CF8F-1E3C5CED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C14F0-4F9F-8A19-114E-9491FE646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1. </a:t>
            </a:r>
            <a:r>
              <a:rPr lang="zh-CN" altLang="en-US" sz="2800" b="1" dirty="0"/>
              <a:t>实验目的</a:t>
            </a:r>
          </a:p>
          <a:p>
            <a:pPr lvl="1"/>
            <a:r>
              <a:rPr lang="zh-CN" altLang="en-US" sz="2400" dirty="0"/>
              <a:t>本实验旨在通过一个小型软件系统的构造，让同学们亲身体会：</a:t>
            </a:r>
          </a:p>
          <a:p>
            <a:pPr lvl="1"/>
            <a:r>
              <a:rPr lang="zh-CN" altLang="en-US" sz="2400" b="1" dirty="0"/>
              <a:t>模块化设计</a:t>
            </a:r>
            <a:r>
              <a:rPr lang="zh-CN" altLang="en-US" sz="2400" dirty="0"/>
              <a:t>：如何将一个完整的功能合理划分为多个独立的模块。</a:t>
            </a:r>
          </a:p>
          <a:p>
            <a:pPr lvl="1"/>
            <a:r>
              <a:rPr lang="zh-CN" altLang="en-US" sz="2400" b="1" dirty="0"/>
              <a:t>高内聚、低耦合</a:t>
            </a:r>
            <a:r>
              <a:rPr lang="zh-CN" altLang="en-US" sz="2400" dirty="0"/>
              <a:t>：如何设计模块使其内部功能紧密相关（高内聚），同时模块之间相互独立、依赖清晰（低耦合）。</a:t>
            </a:r>
          </a:p>
          <a:p>
            <a:pPr lvl="1"/>
            <a:r>
              <a:rPr lang="zh-CN" altLang="en-US" sz="2400" b="1" dirty="0"/>
              <a:t>接口设计</a:t>
            </a:r>
            <a:r>
              <a:rPr lang="zh-CN" altLang="en-US" sz="2400" dirty="0"/>
              <a:t>：如何定义清晰的模块接口（</a:t>
            </a:r>
            <a:r>
              <a:rPr lang="en-US" altLang="zh-CN" sz="2400" dirty="0"/>
              <a:t>API</a:t>
            </a:r>
            <a:r>
              <a:rPr lang="zh-CN" altLang="en-US" sz="2400" dirty="0"/>
              <a:t>）来隐藏实现细节，降低耦合。</a:t>
            </a:r>
          </a:p>
          <a:p>
            <a:pPr lvl="1"/>
            <a:r>
              <a:rPr lang="zh-CN" altLang="en-US" sz="2400" b="1" dirty="0"/>
              <a:t>可维护性与可扩展性</a:t>
            </a:r>
            <a:r>
              <a:rPr lang="zh-CN" altLang="en-US" sz="2400" dirty="0"/>
              <a:t>：体会良好的模块化设计如何使软件更易于修改、测试和扩展新功能。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5036E8-FB84-B806-5121-A55C02CF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83EB1-60BD-6A7B-CD17-87FFF01D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147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实验内容</a:t>
            </a:r>
          </a:p>
          <a:p>
            <a:pPr lvl="1"/>
            <a:r>
              <a:rPr lang="zh-CN" altLang="en-US" sz="2400" dirty="0"/>
              <a:t>构建一个简单的命令行程序，其核心功能是：</a:t>
            </a:r>
            <a:r>
              <a:rPr lang="zh-CN" altLang="en-US" sz="2400" b="1" dirty="0"/>
              <a:t>读取一个</a:t>
            </a:r>
            <a:r>
              <a:rPr lang="en-US" altLang="zh-CN" sz="2400" b="1" dirty="0"/>
              <a:t>Markdown</a:t>
            </a:r>
            <a:r>
              <a:rPr lang="zh-CN" altLang="en-US" sz="2400" b="1" dirty="0"/>
              <a:t>格式（</a:t>
            </a:r>
            <a:r>
              <a:rPr lang="en-US" altLang="zh-CN" sz="2400" dirty="0"/>
              <a:t>.md</a:t>
            </a:r>
            <a:r>
              <a:rPr lang="zh-CN" altLang="en-US" sz="2400" b="1" dirty="0"/>
              <a:t>）的文本文件，将其转换为一个简单的</a:t>
            </a:r>
            <a:r>
              <a:rPr lang="en-US" altLang="zh-CN" sz="2400" b="1" dirty="0"/>
              <a:t>HTML</a:t>
            </a:r>
            <a:r>
              <a:rPr lang="zh-CN" altLang="en-US" sz="2400" b="1" dirty="0"/>
              <a:t>格式（</a:t>
            </a:r>
            <a:r>
              <a:rPr lang="en-US" altLang="zh-CN" sz="2400" dirty="0"/>
              <a:t>.html</a:t>
            </a:r>
            <a:r>
              <a:rPr lang="zh-CN" altLang="en-US" sz="2400" b="1" dirty="0"/>
              <a:t>）文件输出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b="1" dirty="0"/>
              <a:t>核心转换规则（必须实现）：</a:t>
            </a:r>
            <a:endParaRPr lang="zh-CN" altLang="en-US" sz="2400" dirty="0"/>
          </a:p>
          <a:p>
            <a:pPr lvl="1"/>
            <a:r>
              <a:rPr lang="en-US" altLang="zh-CN" sz="2400" dirty="0"/>
              <a:t># </a:t>
            </a:r>
            <a:r>
              <a:rPr lang="zh-CN" altLang="en-US" sz="2400" dirty="0"/>
              <a:t>标题 </a:t>
            </a:r>
            <a:r>
              <a:rPr lang="en-US" altLang="zh-CN" sz="2400" dirty="0"/>
              <a:t>-&gt; &lt;h1&gt;</a:t>
            </a:r>
            <a:r>
              <a:rPr lang="zh-CN" altLang="en-US" sz="2400" dirty="0"/>
              <a:t>标题</a:t>
            </a:r>
            <a:r>
              <a:rPr lang="en-US" altLang="zh-CN" sz="2400" dirty="0"/>
              <a:t>&lt;/h1&gt;</a:t>
            </a:r>
          </a:p>
          <a:p>
            <a:pPr lvl="1"/>
            <a:r>
              <a:rPr lang="en-US" altLang="zh-CN" sz="2400" dirty="0"/>
              <a:t>## </a:t>
            </a:r>
            <a:r>
              <a:rPr lang="zh-CN" altLang="en-US" sz="2400" dirty="0"/>
              <a:t>标题 </a:t>
            </a:r>
            <a:r>
              <a:rPr lang="en-US" altLang="zh-CN" sz="2400" dirty="0"/>
              <a:t>-&gt; &lt;h2&gt;</a:t>
            </a:r>
            <a:r>
              <a:rPr lang="zh-CN" altLang="en-US" sz="2400" dirty="0"/>
              <a:t>标题</a:t>
            </a:r>
            <a:r>
              <a:rPr lang="en-US" altLang="zh-CN" sz="2400" dirty="0"/>
              <a:t>&lt;/h2&gt;</a:t>
            </a:r>
          </a:p>
          <a:p>
            <a:pPr lvl="1"/>
            <a:r>
              <a:rPr lang="en-US" altLang="zh-CN" sz="2400" dirty="0"/>
              <a:t>**</a:t>
            </a:r>
            <a:r>
              <a:rPr lang="zh-CN" altLang="en-US" sz="2400" dirty="0"/>
              <a:t>粗体** </a:t>
            </a:r>
            <a:r>
              <a:rPr lang="en-US" altLang="zh-CN" sz="2400" dirty="0"/>
              <a:t>-&gt; &lt;strong&gt;</a:t>
            </a:r>
            <a:r>
              <a:rPr lang="zh-CN" altLang="en-US" sz="2400" dirty="0"/>
              <a:t>粗体</a:t>
            </a:r>
            <a:r>
              <a:rPr lang="en-US" altLang="zh-CN" sz="2400" dirty="0"/>
              <a:t>&lt;/strong&gt;</a:t>
            </a:r>
          </a:p>
          <a:p>
            <a:pPr lvl="1"/>
            <a:r>
              <a:rPr lang="en-US" altLang="zh-CN" sz="2400" dirty="0"/>
              <a:t>*</a:t>
            </a:r>
            <a:r>
              <a:rPr lang="zh-CN" altLang="en-US" sz="2400" dirty="0"/>
              <a:t>斜体* </a:t>
            </a:r>
            <a:r>
              <a:rPr lang="en-US" altLang="zh-CN" sz="2400" dirty="0"/>
              <a:t>-&gt; &lt;em&gt;</a:t>
            </a:r>
            <a:r>
              <a:rPr lang="zh-CN" altLang="en-US" sz="2400" dirty="0"/>
              <a:t>斜体</a:t>
            </a:r>
            <a:r>
              <a:rPr lang="en-US" altLang="zh-CN" sz="2400" dirty="0"/>
              <a:t>&lt;/em&gt;</a:t>
            </a:r>
          </a:p>
          <a:p>
            <a:pPr lvl="1"/>
            <a:r>
              <a:rPr lang="zh-CN" altLang="en-US" sz="2400" dirty="0"/>
              <a:t>普通段落：无需特殊标签，用 </a:t>
            </a:r>
            <a:r>
              <a:rPr lang="en-US" altLang="zh-CN" sz="2400" dirty="0"/>
              <a:t>&lt;p&gt; </a:t>
            </a:r>
            <a:r>
              <a:rPr lang="zh-CN" altLang="en-US" sz="2400" dirty="0"/>
              <a:t>包裹即可。</a:t>
            </a:r>
            <a:br>
              <a:rPr lang="zh-CN" altLang="en-US" sz="1700" dirty="0"/>
            </a:br>
            <a:endParaRPr lang="en-US" altLang="zh-CN" sz="17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EB4FBAA-E4F9-AFD6-34F5-56AE8657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</p:spTree>
    <p:extLst>
      <p:ext uri="{BB962C8B-B14F-4D97-AF65-F5344CB8AC3E}">
        <p14:creationId xmlns:p14="http://schemas.microsoft.com/office/powerpoint/2010/main" val="514301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A05C-879C-2AEA-E821-22AA3141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A0449-8C9C-8CAD-25E1-1BBF82A3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4608512" cy="508300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示例输入（</a:t>
            </a:r>
            <a:r>
              <a:rPr lang="en-US" altLang="zh-CN" dirty="0"/>
              <a:t>test.md</a:t>
            </a:r>
            <a:r>
              <a:rPr lang="zh-CN" altLang="en-US" b="1" dirty="0"/>
              <a:t>）：</a:t>
            </a:r>
            <a:endParaRPr lang="en-US" altLang="zh-CN" b="1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51895-E7D3-3FA8-F698-9842DD7D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74AD6-857F-8524-F1EB-83D64220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FBF8F63-3818-F1F3-7A62-35A038D0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689F155-040B-CE73-E984-307AB0C9E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384936"/>
            <a:ext cx="3886200" cy="2095500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13BF7744-0CAE-D5FE-53CD-D39A764B00CA}"/>
              </a:ext>
            </a:extLst>
          </p:cNvPr>
          <p:cNvSpPr txBox="1">
            <a:spLocks/>
          </p:cNvSpPr>
          <p:nvPr/>
        </p:nvSpPr>
        <p:spPr bwMode="auto">
          <a:xfrm>
            <a:off x="5087888" y="794270"/>
            <a:ext cx="4608512" cy="5083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rtlCol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kumimoji="0" lang="zh-CN" altLang="en-US" sz="2400" b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1pPr>
            <a:lvl2pPr marL="6858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kumimoji="0" lang="zh-CN" altLang="en-US" sz="2100" b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2pPr>
            <a:lvl3pPr marL="9429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kumimoji="0" lang="zh-CN" altLang="en-US" sz="1500" b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kumimoji="0" lang="zh-CN" altLang="en-US" sz="1500" b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kumimoji="0" lang="zh-CN" altLang="en-US" sz="1500" b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示例输出（</a:t>
            </a:r>
            <a:r>
              <a:rPr lang="en-US" altLang="zh-CN" dirty="0"/>
              <a:t>test.html</a:t>
            </a:r>
            <a:r>
              <a:rPr lang="zh-CN" altLang="en-US" b="1" dirty="0"/>
              <a:t>）：</a:t>
            </a: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F00AFB1-38FE-6813-2C35-4B5A5F426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953" y="1384936"/>
            <a:ext cx="64008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70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AB26-8FB8-E1DA-4FEB-43239C35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D2DF6-B150-C5A5-E500-8816A407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实验要求与步骤</a:t>
            </a:r>
          </a:p>
          <a:p>
            <a:pPr marL="0" indent="0">
              <a:buNone/>
            </a:pPr>
            <a:r>
              <a:rPr lang="zh-CN" altLang="en-US" b="1" dirty="0"/>
              <a:t>第一步：模块划分与设计</a:t>
            </a:r>
            <a:endParaRPr lang="zh-CN" altLang="en-US" dirty="0"/>
          </a:p>
          <a:p>
            <a:r>
              <a:rPr lang="zh-CN" altLang="en-US" dirty="0"/>
              <a:t>不允许将所有代码写在单一的 </a:t>
            </a:r>
            <a:r>
              <a:rPr lang="en-US" altLang="zh-CN" dirty="0"/>
              <a:t>main </a:t>
            </a:r>
            <a:r>
              <a:rPr lang="zh-CN" altLang="en-US" dirty="0"/>
              <a:t>函数中。</a:t>
            </a:r>
          </a:p>
          <a:p>
            <a:r>
              <a:rPr lang="zh-CN" altLang="en-US" dirty="0"/>
              <a:t>在一张纸或设计文档中绘制</a:t>
            </a:r>
            <a:r>
              <a:rPr lang="zh-CN" altLang="en-US" b="1" dirty="0"/>
              <a:t>模块结构图</a:t>
            </a:r>
            <a:r>
              <a:rPr lang="zh-CN" altLang="en-US" dirty="0"/>
              <a:t>，并思考如何划分模块。思考以下问题：</a:t>
            </a:r>
          </a:p>
          <a:p>
            <a:pPr lvl="1"/>
            <a:r>
              <a:rPr lang="zh-CN" altLang="en-US" dirty="0"/>
              <a:t>“文件读取和写入应该是一个独立模块吗？”</a:t>
            </a:r>
          </a:p>
          <a:p>
            <a:pPr lvl="1"/>
            <a:r>
              <a:rPr lang="zh-CN" altLang="en-US" dirty="0"/>
              <a:t>“解析</a:t>
            </a:r>
            <a:r>
              <a:rPr lang="en-US" altLang="zh-CN" dirty="0"/>
              <a:t>Markdown</a:t>
            </a:r>
            <a:r>
              <a:rPr lang="zh-CN" altLang="en-US" dirty="0"/>
              <a:t>的逻辑和生成</a:t>
            </a:r>
            <a:r>
              <a:rPr lang="en-US" altLang="zh-CN" dirty="0"/>
              <a:t>HTML</a:t>
            </a:r>
            <a:r>
              <a:rPr lang="zh-CN" altLang="en-US" dirty="0"/>
              <a:t>的逻辑应该混在一起吗？”</a:t>
            </a:r>
          </a:p>
          <a:p>
            <a:pPr lvl="1"/>
            <a:r>
              <a:rPr lang="zh-CN" altLang="en-US" dirty="0"/>
              <a:t>“如果将来要支持新的格式（如</a:t>
            </a:r>
            <a:r>
              <a:rPr lang="en-US" altLang="zh-CN" dirty="0"/>
              <a:t>PDF</a:t>
            </a:r>
            <a:r>
              <a:rPr lang="zh-CN" altLang="en-US" dirty="0"/>
              <a:t>），哪些部分需要改动？”</a:t>
            </a:r>
            <a:endParaRPr lang="en-US" altLang="zh-CN" dirty="0"/>
          </a:p>
          <a:p>
            <a:pPr lvl="1"/>
            <a:r>
              <a:rPr lang="zh-CN" altLang="en-US" dirty="0"/>
              <a:t>“如果将来要支持新的</a:t>
            </a:r>
            <a:r>
              <a:rPr lang="en-US" altLang="zh-CN" dirty="0"/>
              <a:t>Markdown</a:t>
            </a:r>
            <a:r>
              <a:rPr lang="zh-CN" altLang="en-US"/>
              <a:t>语法解析，</a:t>
            </a:r>
            <a:r>
              <a:rPr lang="zh-CN" altLang="en-US" dirty="0"/>
              <a:t>哪些部分需要改动？”</a:t>
            </a:r>
          </a:p>
          <a:p>
            <a:pPr lvl="1"/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en-US" altLang="zh-CN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E06C43-8253-B85B-2A84-427F13D9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8C35A-4F64-7539-BC92-533F982F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8321935-9B25-AC71-523C-686DFC65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</p:spTree>
    <p:extLst>
      <p:ext uri="{BB962C8B-B14F-4D97-AF65-F5344CB8AC3E}">
        <p14:creationId xmlns:p14="http://schemas.microsoft.com/office/powerpoint/2010/main" val="28478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C376-1BFD-AD53-78A6-3B24895C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B7D80-23F3-5B3B-D505-799D95EF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第二步：编码实现</a:t>
            </a:r>
            <a:endParaRPr lang="zh-CN" altLang="en-US" dirty="0"/>
          </a:p>
          <a:p>
            <a:r>
              <a:rPr lang="zh-CN" altLang="en-US" dirty="0"/>
              <a:t>根据自己设计的模块图，用</a:t>
            </a:r>
            <a:r>
              <a:rPr lang="en-US" altLang="zh-CN" dirty="0"/>
              <a:t>C++</a:t>
            </a:r>
            <a:r>
              <a:rPr lang="zh-CN" altLang="en-US" dirty="0"/>
              <a:t>或</a:t>
            </a:r>
            <a:r>
              <a:rPr lang="en-US" altLang="zh-CN" dirty="0"/>
              <a:t>Java</a:t>
            </a:r>
            <a:r>
              <a:rPr lang="zh-CN" altLang="en-US" dirty="0"/>
              <a:t>进行实现。</a:t>
            </a:r>
          </a:p>
          <a:p>
            <a:r>
              <a:rPr lang="zh-CN" altLang="en-US" b="1" dirty="0"/>
              <a:t>关键点：</a:t>
            </a:r>
            <a:endParaRPr lang="zh-CN" altLang="en-US" dirty="0"/>
          </a:p>
          <a:p>
            <a:pPr lvl="1"/>
            <a:r>
              <a:rPr lang="zh-CN" altLang="en-US" dirty="0"/>
              <a:t>模块之间通过</a:t>
            </a:r>
            <a:r>
              <a:rPr lang="zh-CN" altLang="en-US" b="1" dirty="0"/>
              <a:t>明确的函数</a:t>
            </a:r>
            <a:r>
              <a:rPr lang="en-US" altLang="zh-CN" b="1" dirty="0"/>
              <a:t>/</a:t>
            </a:r>
            <a:r>
              <a:rPr lang="zh-CN" altLang="en-US" b="1" dirty="0"/>
              <a:t>方法接口</a:t>
            </a:r>
            <a:r>
              <a:rPr lang="zh-CN" altLang="en-US" dirty="0"/>
              <a:t>进行调用，</a:t>
            </a:r>
            <a:r>
              <a:rPr lang="zh-CN" altLang="en-US" b="1" dirty="0"/>
              <a:t>避免使用全局变量</a:t>
            </a:r>
            <a:r>
              <a:rPr lang="zh-CN" altLang="en-US" dirty="0"/>
              <a:t>等隐式共享数据的方式。</a:t>
            </a:r>
          </a:p>
          <a:p>
            <a:pPr lvl="1"/>
            <a:r>
              <a:rPr lang="en-US" altLang="zh-CN" dirty="0"/>
              <a:t>Markdown</a:t>
            </a:r>
            <a:r>
              <a:rPr lang="zh-CN" altLang="en-US" dirty="0"/>
              <a:t>解析模块是核心，其内部实现可以使用多个私有方法来分别处理标题、粗体等（体现模块内的“内聚”），但这些细节对外部模块（如 </a:t>
            </a:r>
            <a:r>
              <a:rPr lang="en-US" altLang="zh-CN" dirty="0"/>
              <a:t>Main</a:t>
            </a:r>
            <a:r>
              <a:rPr lang="zh-CN" altLang="en-US" dirty="0"/>
              <a:t>）是不可见的（体现“接口隐藏”）。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3CEADE-6E21-15D5-A5DC-63EF1F5E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D4EA5-8F6B-1C54-52C7-8F1C52AE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6DC9703-D04C-7101-C151-82332ADB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</p:spTree>
    <p:extLst>
      <p:ext uri="{BB962C8B-B14F-4D97-AF65-F5344CB8AC3E}">
        <p14:creationId xmlns:p14="http://schemas.microsoft.com/office/powerpoint/2010/main" val="174949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98A2-2EDD-EBC5-C25A-6D0E460B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F221D2-4BFC-8C76-D90B-5D8EBA94F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第三步：测试与思考</a:t>
            </a:r>
            <a:endParaRPr lang="zh-CN" altLang="en-US" dirty="0"/>
          </a:p>
          <a:p>
            <a:r>
              <a:rPr lang="zh-CN" altLang="en-US" dirty="0"/>
              <a:t>使用自定义样例测试程序，确保功能正确。</a:t>
            </a:r>
          </a:p>
          <a:p>
            <a:r>
              <a:rPr lang="zh-CN" altLang="en-US" dirty="0"/>
              <a:t>完成实验报告（可包含以下思考题）：</a:t>
            </a:r>
          </a:p>
          <a:p>
            <a:pPr lvl="1"/>
            <a:r>
              <a:rPr lang="zh-CN" altLang="en-US" dirty="0"/>
              <a:t>画出你最终实现的模块依赖图，并分析模块之间的耦合程度（是依赖接口还是依赖具体实现？）。</a:t>
            </a:r>
          </a:p>
          <a:p>
            <a:pPr lvl="1"/>
            <a:r>
              <a:rPr lang="zh-CN" altLang="en-US" dirty="0"/>
              <a:t>你的 </a:t>
            </a:r>
            <a:r>
              <a:rPr lang="en-US" altLang="zh-CN" dirty="0"/>
              <a:t>Markdown</a:t>
            </a:r>
            <a:r>
              <a:rPr lang="zh-CN" altLang="en-US" dirty="0"/>
              <a:t>解析模块内部是如何组织的？它是“高内聚”的吗？为什么？</a:t>
            </a:r>
          </a:p>
          <a:p>
            <a:pPr lvl="1"/>
            <a:r>
              <a:rPr lang="zh-CN" altLang="en-US" b="1" dirty="0"/>
              <a:t>扩展性思考</a:t>
            </a:r>
            <a:r>
              <a:rPr lang="zh-CN" altLang="en-US" dirty="0"/>
              <a:t>：如果现在需要增加一个功能，将转换后的</a:t>
            </a:r>
            <a:r>
              <a:rPr lang="en-US" altLang="zh-CN" dirty="0"/>
              <a:t>HTML</a:t>
            </a:r>
            <a:r>
              <a:rPr lang="zh-CN" altLang="en-US" dirty="0"/>
              <a:t>内容直接输出到命令行而不是文件，你应该修改哪个模块？为什么？</a:t>
            </a:r>
          </a:p>
          <a:p>
            <a:pPr lvl="1"/>
            <a:r>
              <a:rPr lang="zh-CN" altLang="en-US" dirty="0"/>
              <a:t>如果将来要支持新的</a:t>
            </a:r>
            <a:r>
              <a:rPr lang="en-US" altLang="zh-CN" dirty="0"/>
              <a:t>Markdown</a:t>
            </a:r>
            <a:r>
              <a:rPr lang="zh-CN" altLang="en-US" dirty="0"/>
              <a:t>语法（例如代码块），在哪个模块进行修改？修改起来困难吗？这体现了模块化设计的什么优点？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3A906F-4482-D27D-C2BF-AE608D10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9428B-CFEE-3F10-84FA-96FE9749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8484B11-11B5-1796-18ED-6C64C98D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</p:spTree>
    <p:extLst>
      <p:ext uri="{BB962C8B-B14F-4D97-AF65-F5344CB8AC3E}">
        <p14:creationId xmlns:p14="http://schemas.microsoft.com/office/powerpoint/2010/main" val="14956208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02FB-9C55-4E98-C3C5-53A4FE45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22717-93C5-858C-21C1-957953671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/>
              <a:t>实验报告提交</a:t>
            </a:r>
            <a:endParaRPr lang="en-US" altLang="zh-CN" sz="2800" b="1" dirty="0"/>
          </a:p>
          <a:p>
            <a:pPr>
              <a:spcBef>
                <a:spcPct val="50000"/>
              </a:spcBef>
            </a:pPr>
            <a:r>
              <a:rPr lang="zh-CN" altLang="en-US" dirty="0"/>
              <a:t>截止日期：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 </a:t>
            </a:r>
            <a:r>
              <a:rPr lang="en-US" altLang="zh-CN" dirty="0"/>
              <a:t>22:00</a:t>
            </a:r>
          </a:p>
          <a:p>
            <a:pPr>
              <a:spcBef>
                <a:spcPct val="50000"/>
              </a:spcBef>
            </a:pPr>
            <a:r>
              <a:rPr lang="zh-CN" altLang="en-US" dirty="0"/>
              <a:t>提交形式：电子版（</a:t>
            </a:r>
            <a:r>
              <a:rPr lang="en-US" altLang="zh-CN" dirty="0"/>
              <a:t>Word</a:t>
            </a:r>
            <a:r>
              <a:rPr lang="zh-CN" altLang="en-US" dirty="0"/>
              <a:t>或</a:t>
            </a:r>
            <a:r>
              <a:rPr lang="en-US" altLang="zh-CN" dirty="0"/>
              <a:t>PDF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spcBef>
                <a:spcPct val="50000"/>
              </a:spcBef>
            </a:pPr>
            <a:r>
              <a:rPr lang="zh-CN" altLang="en-US" dirty="0"/>
              <a:t>文档名称：学号</a:t>
            </a:r>
            <a:r>
              <a:rPr lang="en-US" altLang="zh-CN" dirty="0"/>
              <a:t>+</a:t>
            </a:r>
            <a:r>
              <a:rPr lang="zh-CN" altLang="en-US" dirty="0"/>
              <a:t>姓名</a:t>
            </a:r>
            <a:r>
              <a:rPr lang="en-US" altLang="zh-CN" dirty="0"/>
              <a:t>+</a:t>
            </a:r>
            <a:r>
              <a:rPr lang="zh-CN" altLang="en-US" dirty="0"/>
              <a:t>实验</a:t>
            </a:r>
            <a:r>
              <a:rPr lang="en-US" altLang="zh-CN" dirty="0"/>
              <a:t>1.docx</a:t>
            </a:r>
            <a:r>
              <a:rPr lang="zh-CN" altLang="en-US" dirty="0"/>
              <a:t>（或</a:t>
            </a:r>
            <a:r>
              <a:rPr lang="en-US" altLang="zh-CN" dirty="0"/>
              <a:t>pdf</a:t>
            </a:r>
            <a:r>
              <a:rPr lang="zh-CN" altLang="en-US" dirty="0"/>
              <a:t>），</a:t>
            </a:r>
            <a:r>
              <a:rPr lang="zh-CN" altLang="en-US" dirty="0">
                <a:solidFill>
                  <a:srgbClr val="FF0000"/>
                </a:solidFill>
              </a:rPr>
              <a:t>请务必按这个格式命名</a:t>
            </a:r>
            <a:r>
              <a:rPr lang="zh-CN" altLang="en-US" dirty="0"/>
              <a:t>！</a:t>
            </a:r>
            <a:endParaRPr lang="en-US" altLang="zh-CN" dirty="0"/>
          </a:p>
          <a:p>
            <a:pPr>
              <a:spcBef>
                <a:spcPct val="50000"/>
              </a:spcBef>
            </a:pPr>
            <a:r>
              <a:rPr lang="zh-CN" altLang="en-US" dirty="0"/>
              <a:t>通过</a:t>
            </a:r>
            <a:r>
              <a:rPr lang="en-US" altLang="zh-CN" dirty="0"/>
              <a:t>QQ</a:t>
            </a:r>
            <a:r>
              <a:rPr lang="zh-CN" altLang="en-US" dirty="0"/>
              <a:t>邮箱（</a:t>
            </a:r>
            <a:r>
              <a:rPr lang="en-US" altLang="zh-CN" dirty="0">
                <a:solidFill>
                  <a:srgbClr val="0432FF"/>
                </a:solidFill>
              </a:rPr>
              <a:t>3374279502@qq.com</a:t>
            </a:r>
            <a:r>
              <a:rPr lang="zh-CN" altLang="en-US" dirty="0"/>
              <a:t>）统一提交给</a:t>
            </a:r>
            <a:r>
              <a:rPr lang="zh-CN" altLang="en-US" dirty="0">
                <a:solidFill>
                  <a:srgbClr val="0432FF"/>
                </a:solidFill>
              </a:rPr>
              <a:t>谷雨萌同学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432FF"/>
                </a:solidFill>
              </a:rPr>
              <a:t>邮件标题与文件名称一致</a:t>
            </a:r>
            <a:r>
              <a:rPr lang="zh-CN" altLang="en-US" dirty="0"/>
              <a:t>，然后由她打包发给我。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1BAD1-6F26-09DC-C780-D0E694BB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计算机学院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E987A-96D0-C214-557B-A05D18E5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0F9E76A-7979-A6B9-4189-B3363C6B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1" y="-27384"/>
            <a:ext cx="9073008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：模块化的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文档转换器</a:t>
            </a:r>
          </a:p>
        </p:txBody>
      </p:sp>
    </p:spTree>
    <p:extLst>
      <p:ext uri="{BB962C8B-B14F-4D97-AF65-F5344CB8AC3E}">
        <p14:creationId xmlns:p14="http://schemas.microsoft.com/office/powerpoint/2010/main" val="365123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3739</TotalTime>
  <Words>786</Words>
  <Application>Microsoft Macintosh PowerPoint</Application>
  <PresentationFormat>宽屏</PresentationFormat>
  <Paragraphs>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华文彩云</vt:lpstr>
      <vt:lpstr>华文细黑</vt:lpstr>
      <vt:lpstr>浪漫雅圆</vt:lpstr>
      <vt:lpstr>Microsoft YaHei</vt:lpstr>
      <vt:lpstr>Arial</vt:lpstr>
      <vt:lpstr>Calibri</vt:lpstr>
      <vt:lpstr>Stencil</vt:lpstr>
      <vt:lpstr>Times New Roman</vt:lpstr>
      <vt:lpstr>Wingdings</vt:lpstr>
      <vt:lpstr>Office 主题</vt:lpstr>
      <vt:lpstr>软件构造-实验1</vt:lpstr>
      <vt:lpstr>实验1：模块化的Markdown文档转换器</vt:lpstr>
      <vt:lpstr>实验1：模块化的Markdown文档转换器</vt:lpstr>
      <vt:lpstr>实验1：模块化的Markdown文档转换器</vt:lpstr>
      <vt:lpstr>实验1：模块化的Markdown文档转换器</vt:lpstr>
      <vt:lpstr>实验1：模块化的Markdown文档转换器</vt:lpstr>
      <vt:lpstr>实验1：模块化的Markdown文档转换器</vt:lpstr>
      <vt:lpstr>实验1：模块化的Markdown文档转换器</vt:lpstr>
    </vt:vector>
  </TitlesOfParts>
  <Company>许多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述职报告ID20080009</dc:title>
  <dc:creator>Ideappt</dc:creator>
  <dc:description>www.ideappt.com</dc:description>
  <cp:lastModifiedBy>Zengyang Li</cp:lastModifiedBy>
  <cp:revision>96</cp:revision>
  <dcterms:created xsi:type="dcterms:W3CDTF">2008-12-23T13:27:03Z</dcterms:created>
  <dcterms:modified xsi:type="dcterms:W3CDTF">2025-09-19T02:25:21Z</dcterms:modified>
</cp:coreProperties>
</file>