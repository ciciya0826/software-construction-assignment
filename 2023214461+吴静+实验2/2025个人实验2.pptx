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70" r:id="rId3"/>
    <p:sldId id="266" r:id="rId4"/>
    <p:sldId id="268" r:id="rId5"/>
    <p:sldId id="273" r:id="rId6"/>
    <p:sldId id="274" r:id="rId7"/>
    <p:sldId id="272" r:id="rId8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31"/>
    <p:restoredTop sz="94660"/>
  </p:normalViewPr>
  <p:slideViewPr>
    <p:cSldViewPr showGuides="1">
      <p:cViewPr varScale="1">
        <p:scale>
          <a:sx n="122" d="100"/>
          <a:sy n="122" d="100"/>
        </p:scale>
        <p:origin x="1016" y="2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9A6CE-1A35-4138-BD78-4998D0B1E1FE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D22E20-9B92-4C56-B786-694281E710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649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8" descr="跑道副本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2996952"/>
            <a:ext cx="12192000" cy="1728192"/>
          </a:xfrm>
        </p:spPr>
        <p:txBody>
          <a:bodyPr/>
          <a:lstStyle>
            <a:lvl1pPr algn="r">
              <a:defRPr sz="45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0" y="4797152"/>
            <a:ext cx="12192000" cy="2060848"/>
          </a:xfrm>
        </p:spPr>
        <p:txBody>
          <a:bodyPr>
            <a:normAutofit/>
          </a:bodyPr>
          <a:lstStyle>
            <a:lvl1pPr marL="0" indent="0" algn="r">
              <a:buNone/>
              <a:defRPr sz="2100">
                <a:solidFill>
                  <a:schemeClr val="accent1">
                    <a:lumMod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7640C3-94FB-8CDB-4C19-1CB7E1F736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3152043" cy="89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41974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46099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2023</a:t>
            </a:r>
            <a:r>
              <a:rPr lang="zh-CN" altLang="en-US"/>
              <a:t>秋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46099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21DDF-13A2-49D4-85F6-8B62C10E5A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33315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607219">
              <a:buNone/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21DDF-13A2-49D4-85F6-8B62C10E5A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20887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519114"/>
            <a:ext cx="10972800" cy="82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412776"/>
            <a:ext cx="10972800" cy="50405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rtlCol="0">
            <a:normAutofit/>
          </a:bodyPr>
          <a:lstStyle/>
          <a:p>
            <a:pPr lvl="0">
              <a:spcBef>
                <a:spcPct val="30000"/>
              </a:spcBef>
              <a:buClr>
                <a:schemeClr val="hlink"/>
              </a:buClr>
            </a:pPr>
            <a:r>
              <a:rPr lang="zh-CN" altLang="en-US" dirty="0"/>
              <a:t>单击此处编辑母版文本样式</a:t>
            </a:r>
          </a:p>
          <a:p>
            <a:pPr lvl="1">
              <a:buSzPct val="80000"/>
            </a:pPr>
            <a:r>
              <a:rPr lang="zh-CN" altLang="en-US" dirty="0"/>
              <a:t>第二级</a:t>
            </a:r>
          </a:p>
          <a:p>
            <a:pPr lvl="2">
              <a:buClr>
                <a:schemeClr val="hlink"/>
              </a:buClr>
            </a:pPr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>
              <a:buClr>
                <a:schemeClr val="hlink"/>
              </a:buClr>
            </a:pPr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46099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831FAC-57DB-4804-BDC5-52B7C095737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8" name="Text Box 46"/>
          <p:cNvSpPr txBox="1">
            <a:spLocks noChangeArrowheads="1"/>
          </p:cNvSpPr>
          <p:nvPr userDrawn="1"/>
        </p:nvSpPr>
        <p:spPr bwMode="auto">
          <a:xfrm>
            <a:off x="0" y="6452374"/>
            <a:ext cx="4871864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100" b="0" dirty="0">
                <a:solidFill>
                  <a:schemeClr val="bg1">
                    <a:lumMod val="65000"/>
                  </a:schemeClr>
                </a:solidFill>
                <a:effectLst/>
                <a:latin typeface="华文彩云" pitchFamily="2" charset="-122"/>
                <a:ea typeface="华文彩云" pitchFamily="2" charset="-122"/>
              </a:rPr>
              <a:t>软件构造  </a:t>
            </a:r>
            <a:r>
              <a:rPr lang="en-US" altLang="zh-CN" sz="2100" b="0" kern="1200" dirty="0">
                <a:solidFill>
                  <a:schemeClr val="bg1">
                    <a:lumMod val="65000"/>
                  </a:schemeClr>
                </a:solidFill>
                <a:effectLst/>
                <a:latin typeface="Stencil" pitchFamily="82" charset="0"/>
                <a:ea typeface="华文琥珀" pitchFamily="2" charset="-122"/>
                <a:cs typeface="+mn-cs"/>
              </a:rPr>
              <a:t>Software Construction</a:t>
            </a:r>
            <a:endParaRPr lang="zh-CN" altLang="en-US" sz="2100" b="0" kern="1200" dirty="0">
              <a:solidFill>
                <a:schemeClr val="bg1">
                  <a:lumMod val="65000"/>
                </a:schemeClr>
              </a:solidFill>
              <a:effectLst/>
              <a:latin typeface="Stencil" pitchFamily="82" charset="0"/>
              <a:ea typeface="华文琥珀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4" r:id="rId3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b="0" kern="1200">
          <a:solidFill>
            <a:srgbClr val="C00000"/>
          </a:solidFill>
          <a:effectLst/>
          <a:latin typeface="浪漫雅圆" pitchFamily="2" charset="-122"/>
          <a:ea typeface="浪漫雅圆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华文细黑" pitchFamily="2" charset="-122"/>
          <a:ea typeface="华文细黑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华文细黑" pitchFamily="2" charset="-122"/>
          <a:ea typeface="华文细黑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华文细黑" pitchFamily="2" charset="-122"/>
          <a:ea typeface="华文细黑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华文细黑" pitchFamily="2" charset="-122"/>
          <a:ea typeface="华文细黑" pitchFamily="2" charset="-122"/>
        </a:defRPr>
      </a:lvl5pPr>
      <a:lvl6pPr marL="342900" algn="l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华文细黑" pitchFamily="2" charset="-122"/>
          <a:ea typeface="华文细黑" pitchFamily="2" charset="-122"/>
        </a:defRPr>
      </a:lvl6pPr>
      <a:lvl7pPr marL="685800" algn="l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华文细黑" pitchFamily="2" charset="-122"/>
          <a:ea typeface="华文细黑" pitchFamily="2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华文细黑" pitchFamily="2" charset="-122"/>
          <a:ea typeface="华文细黑" pitchFamily="2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华文细黑" pitchFamily="2" charset="-122"/>
          <a:ea typeface="华文细黑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n"/>
        <a:defRPr kumimoji="0" lang="zh-CN" altLang="en-US" sz="2400" b="0" kern="1200" dirty="0" smtClean="0">
          <a:solidFill>
            <a:schemeClr val="tx1"/>
          </a:solidFill>
          <a:effectLst/>
          <a:latin typeface="Times New Roman" pitchFamily="18" charset="0"/>
          <a:ea typeface="黑体" pitchFamily="49" charset="-122"/>
          <a:cs typeface="Times New Roman" pitchFamily="18" charset="0"/>
        </a:defRPr>
      </a:lvl1pPr>
      <a:lvl2pPr marL="6858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n"/>
        <a:defRPr kumimoji="0" lang="zh-CN" altLang="en-US" sz="2100" b="0" kern="1200" dirty="0" smtClean="0">
          <a:solidFill>
            <a:schemeClr val="tx1"/>
          </a:solidFill>
          <a:effectLst/>
          <a:latin typeface="Times New Roman" pitchFamily="18" charset="0"/>
          <a:ea typeface="华文新魏" pitchFamily="2" charset="-122"/>
          <a:cs typeface="Times New Roman" pitchFamily="18" charset="0"/>
        </a:defRPr>
      </a:lvl2pPr>
      <a:lvl3pPr marL="942975" indent="-257175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n"/>
        <a:defRPr kumimoji="0" lang="zh-CN" altLang="en-US" sz="1500" b="0" kern="1200" dirty="0" smtClean="0">
          <a:solidFill>
            <a:schemeClr val="tx1"/>
          </a:solidFill>
          <a:effectLst/>
          <a:latin typeface="Times New Roman" pitchFamily="18" charset="0"/>
          <a:ea typeface="华文新魏" pitchFamily="2" charset="-122"/>
          <a:cs typeface="Times New Roman" pitchFamily="18" charset="0"/>
        </a:defRPr>
      </a:lvl3pPr>
      <a:lvl4pPr marL="1285875" indent="-257175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n"/>
        <a:defRPr kumimoji="0" lang="zh-CN" altLang="en-US" sz="1500" b="0" kern="1200" dirty="0" smtClean="0">
          <a:solidFill>
            <a:schemeClr val="tx1"/>
          </a:solidFill>
          <a:effectLst/>
          <a:latin typeface="Times New Roman" pitchFamily="18" charset="0"/>
          <a:ea typeface="华文新魏" pitchFamily="2" charset="-122"/>
          <a:cs typeface="Times New Roman" pitchFamily="18" charset="0"/>
        </a:defRPr>
      </a:lvl4pPr>
      <a:lvl5pPr marL="1628775" indent="-257175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n"/>
        <a:defRPr kumimoji="0" lang="zh-CN" altLang="en-US" sz="1500" b="0" kern="1200" dirty="0" smtClean="0">
          <a:solidFill>
            <a:schemeClr val="tx1"/>
          </a:solidFill>
          <a:effectLst/>
          <a:latin typeface="Times New Roman" pitchFamily="18" charset="0"/>
          <a:ea typeface="华文新魏" pitchFamily="2" charset="-122"/>
          <a:cs typeface="Times New Roman" pitchFamily="18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996952"/>
            <a:ext cx="9144000" cy="1008112"/>
          </a:xfrm>
        </p:spPr>
        <p:txBody>
          <a:bodyPr/>
          <a:lstStyle/>
          <a:p>
            <a:r>
              <a:rPr lang="zh-CN" altLang="en-US" dirty="0"/>
              <a:t>软件构造</a:t>
            </a:r>
            <a:r>
              <a:rPr lang="en-US" altLang="zh-CN" dirty="0"/>
              <a:t>-</a:t>
            </a:r>
            <a:r>
              <a:rPr lang="zh-CN" altLang="en-US" dirty="0"/>
              <a:t>实验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797152"/>
            <a:ext cx="9144000" cy="2060848"/>
          </a:xfrm>
        </p:spPr>
        <p:txBody>
          <a:bodyPr/>
          <a:lstStyle/>
          <a:p>
            <a:r>
              <a:rPr lang="zh-CN" altLang="en-US" dirty="0"/>
              <a:t>计算机学院</a:t>
            </a:r>
            <a:endParaRPr lang="en-US" altLang="zh-CN" dirty="0"/>
          </a:p>
          <a:p>
            <a:r>
              <a:rPr lang="zh-CN" altLang="en-US" dirty="0"/>
              <a:t>主讲：李增扬</a:t>
            </a:r>
            <a:endParaRPr lang="en-US" altLang="zh-CN" dirty="0"/>
          </a:p>
          <a:p>
            <a:r>
              <a:rPr lang="zh-CN" altLang="en-US" dirty="0"/>
              <a:t>邮箱：</a:t>
            </a:r>
            <a:r>
              <a:rPr lang="en-US" altLang="zh-CN" dirty="0"/>
              <a:t>306872279@qq.com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D329D-A00E-E613-D256-FCF48861D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69501-F4E7-95CA-CF8F-1E3C5CEDC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821655"/>
          </a:xfrm>
        </p:spPr>
        <p:txBody>
          <a:bodyPr/>
          <a:lstStyle/>
          <a:p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智能家居设备管理系统</a:t>
            </a:r>
            <a:endParaRPr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EC14F0-4F9F-8A19-114E-9491FE646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794271"/>
            <a:ext cx="11449272" cy="5083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实验目的</a:t>
            </a:r>
          </a:p>
          <a:p>
            <a:pPr marL="342900" lvl="1" indent="0">
              <a:buNone/>
            </a:pP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本实验旨在通过构建一个智能家居设备管理系统，让学生深入理解：</a:t>
            </a:r>
          </a:p>
          <a:p>
            <a:pPr lvl="1"/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面向对象核心特性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  <a:p>
            <a:pPr lvl="2"/>
            <a: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封装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：隐藏对象内部状态，通过公共接口访问</a:t>
            </a:r>
          </a:p>
          <a:p>
            <a:pPr lvl="2"/>
            <a: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继承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：建立设备层次结构，实现代码复用</a:t>
            </a:r>
          </a:p>
          <a:p>
            <a:pPr lvl="2"/>
            <a: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多态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：统一接口处理不同类型的设备</a:t>
            </a:r>
          </a:p>
          <a:p>
            <a:pPr lvl="1"/>
            <a:r>
              <a:rPr lang="zh-CN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面向对象设计原则</a:t>
            </a:r>
            <a:r>
              <a:rPr lang="zh-C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  <a:p>
            <a:pPr lvl="2"/>
            <a: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单一职责原则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：每个类专注于单一功能</a:t>
            </a:r>
          </a:p>
          <a:p>
            <a:pPr lvl="2"/>
            <a: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开闭原则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：易于扩展新设备类型，无需修改现有代码</a:t>
            </a:r>
          </a:p>
          <a:p>
            <a:pPr lvl="2"/>
            <a: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里氏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代</a:t>
            </a:r>
            <a: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换原则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：子类可以替换父类并保持程序正确性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583EB1-60BD-6A7B-CD17-87FFF01D8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D21DDF-13A2-49D4-85F6-8B62C10E5A92}" type="slidenum">
              <a:rPr lang="zh-CN" alt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>
                <a:defRPr/>
              </a:pPr>
              <a:t>2</a:t>
            </a:fld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0147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344" y="794271"/>
            <a:ext cx="11737304" cy="5083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实验内容</a:t>
            </a:r>
          </a:p>
          <a:p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构建一个智能家居设备管理系统，能够管理不同类型的智能设备，控制设备状态，并显示设备信息。</a:t>
            </a:r>
          </a:p>
          <a:p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核心功能要求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  <a:p>
            <a:pPr lvl="1"/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管理多种智能设备（灯、空调、窗帘）</a:t>
            </a:r>
          </a:p>
          <a:p>
            <a:pPr lvl="1"/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统一控制设备的开关状态</a:t>
            </a:r>
          </a:p>
          <a:p>
            <a:pPr lvl="1"/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设备特有的功能控制（如调节亮度、温度等）</a:t>
            </a:r>
          </a:p>
          <a:p>
            <a:pPr lvl="1"/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显示所有设备状态信息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D21DDF-13A2-49D4-85F6-8B62C10E5A92}" type="slidenum">
              <a:rPr lang="zh-CN" alt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>
                <a:defRPr/>
              </a:pPr>
              <a:t>3</a:t>
            </a:fld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C6CB3720-39F9-D814-BF87-C86D2D8DF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821655"/>
          </a:xfrm>
        </p:spPr>
        <p:txBody>
          <a:bodyPr/>
          <a:lstStyle/>
          <a:p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智能家居设备管理系统</a:t>
            </a:r>
            <a:endParaRPr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43019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6AB26-8FB8-E1DA-4FEB-43239C35A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0D2DF6-B150-C5A5-E500-8816A407F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794271"/>
            <a:ext cx="11737304" cy="551504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sz="4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4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实验要求与步骤</a:t>
            </a:r>
          </a:p>
          <a:p>
            <a:pPr marL="0" indent="0">
              <a:buNone/>
            </a:pPr>
            <a:r>
              <a:rPr lang="zh-CN" altLang="en-US" sz="29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第一步：</a:t>
            </a:r>
            <a:r>
              <a:rPr lang="zh-CN" altLang="zh-CN" sz="29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类设计与规划</a:t>
            </a:r>
            <a:r>
              <a:rPr lang="zh-CN" altLang="zh-CN" sz="29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en-US" altLang="zh-CN" sz="2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绘制</a:t>
            </a:r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类图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，设计以下核心类及其关系：</a:t>
            </a:r>
          </a:p>
          <a:p>
            <a:pPr lvl="1"/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SmartDevice</a:t>
            </a:r>
            <a:r>
              <a:rPr lang="zh-CN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（智能设备基类</a:t>
            </a:r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抽象类）</a:t>
            </a:r>
            <a:endParaRPr lang="zh-CN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/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属性：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deviceId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（设备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ID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）、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deviceName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（设备名称）、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isOn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（开关状态）</a:t>
            </a:r>
          </a:p>
          <a:p>
            <a:pPr lvl="2"/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方法：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turnOn()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turnOff()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getStatus()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abstract String getDeviceType()</a:t>
            </a:r>
            <a:endParaRPr lang="zh-CN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SmartLight</a:t>
            </a:r>
            <a:r>
              <a:rPr lang="zh-CN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（智能灯）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 - </a:t>
            </a:r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继承自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 SmartDevice</a:t>
            </a:r>
            <a:endParaRPr lang="zh-CN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/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特有属性：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brightness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（亮度，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0-100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lvl="2"/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特有方法：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setBrightness(int level)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getBrightness()</a:t>
            </a:r>
            <a:endParaRPr lang="zh-CN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/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重写：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getDeviceType() 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返回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"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智能灯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"</a:t>
            </a:r>
            <a:endParaRPr lang="zh-CN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SmartAC</a:t>
            </a:r>
            <a:r>
              <a:rPr lang="zh-CN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（智能空调）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 - </a:t>
            </a:r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继承自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 SmartDevice</a:t>
            </a:r>
            <a:endParaRPr lang="zh-CN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/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特有属性：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temperature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（温度）、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mode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（模式：制冷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制热）</a:t>
            </a:r>
          </a:p>
          <a:p>
            <a:pPr lvl="2"/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特有方法：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setTemperature(int temp)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setMode(String mode)</a:t>
            </a:r>
            <a:endParaRPr lang="zh-CN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/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重写：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getDeviceType() 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返回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"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智能空调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"</a:t>
            </a:r>
            <a:endParaRPr lang="zh-CN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SmartCurtain</a:t>
            </a:r>
            <a:r>
              <a:rPr lang="zh-CN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（智能窗帘）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 - </a:t>
            </a:r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继承自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 SmartDevice</a:t>
            </a:r>
            <a:endParaRPr lang="zh-CN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/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特有属性：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openPercentage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（打开百分比，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0-100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lvl="2"/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特有方法：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setOpenPercentage(int percent)</a:t>
            </a:r>
            <a:endParaRPr lang="zh-CN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/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重写：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getDeviceType() 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返回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"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智能窗帘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"</a:t>
            </a:r>
            <a:endParaRPr lang="zh-CN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HomeManager</a:t>
            </a:r>
            <a:r>
              <a:rPr lang="zh-CN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（家居管理器）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 - </a:t>
            </a:r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核心管理类</a:t>
            </a:r>
          </a:p>
          <a:p>
            <a:pPr lvl="2"/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属性：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devices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List&lt;SmartDevice&gt;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lvl="2"/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方法：</a:t>
            </a:r>
            <a:r>
              <a:rPr lang="en-US" altLang="zh-CN" sz="1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addDevice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CN" sz="1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SmartDevice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device)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removeDevice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(String </a:t>
            </a:r>
            <a:r>
              <a:rPr lang="en-US" altLang="zh-CN" sz="1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deviceId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turnOnDevice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(String </a:t>
            </a:r>
            <a:r>
              <a:rPr lang="en-US" altLang="zh-CN" sz="1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deviceId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85800" lvl="2" indent="0">
              <a:buNone/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</a:t>
            </a:r>
            <a:r>
              <a:rPr lang="en-US" altLang="zh-CN" sz="1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turnOffDevice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(String </a:t>
            </a:r>
            <a:r>
              <a:rPr lang="en-US" altLang="zh-CN" sz="1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deviceId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displayAllDevices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78C35A-4F64-7539-BC92-533F982FD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D21DDF-13A2-49D4-85F6-8B62C10E5A92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4EE029E2-31D2-0993-ABA6-FF5D5B0AA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821655"/>
          </a:xfrm>
        </p:spPr>
        <p:txBody>
          <a:bodyPr/>
          <a:lstStyle/>
          <a:p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b="1" dirty="0"/>
              <a:t>智能家居设备管理系统</a:t>
            </a:r>
            <a:endParaRPr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781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1FFEA-4678-A873-8992-1A97F8F8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F2676A-EEDA-4EE7-3E62-7F7A906FE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794271"/>
            <a:ext cx="11737304" cy="5515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实验要求与步骤</a:t>
            </a:r>
          </a:p>
          <a:p>
            <a:pPr marL="0" indent="0">
              <a:buNone/>
            </a:pP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第二步：编码实现</a:t>
            </a:r>
            <a:endParaRPr lang="en-US" altLang="zh-CN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按照设计的类图进行编码，重点体现面向对象特性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第三步：测试与验证</a:t>
            </a:r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zh-CN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编写测试代码验证系统功能 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buNone/>
            </a:pP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b="1" cap="small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zh-CN" b="1" cap="small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扩展任务（</a:t>
            </a:r>
            <a:r>
              <a:rPr lang="zh-CN" altLang="en-US" b="1" cap="small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可选</a:t>
            </a:r>
            <a:r>
              <a:rPr lang="zh-CN" altLang="zh-CN" b="1" cap="small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lvl="0"/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添加新设备类型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：实现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 SmartTV 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类，具有频道和音量属性</a:t>
            </a:r>
          </a:p>
          <a:p>
            <a:pPr lvl="0"/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场景模式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：实现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 SceneMode 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类，可以同时控制多个设备状态</a:t>
            </a:r>
          </a:p>
          <a:p>
            <a:pPr lvl="0"/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异常处理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：添加设备不存在、参数无效等异常处理</a:t>
            </a:r>
          </a:p>
          <a:p>
            <a:pPr lvl="0"/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接口设计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：提取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 Controllable 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接口，定义控制相关方法</a:t>
            </a:r>
          </a:p>
          <a:p>
            <a:pPr marL="0" indent="0">
              <a:buNone/>
            </a:pPr>
            <a:endParaRPr lang="zh-CN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A9271B-2E65-06ED-5704-1927929D5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D21DDF-13A2-49D4-85F6-8B62C10E5A92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789A4A35-5C17-6699-DC90-8896E75D1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821655"/>
          </a:xfrm>
        </p:spPr>
        <p:txBody>
          <a:bodyPr/>
          <a:lstStyle/>
          <a:p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b="1" dirty="0"/>
              <a:t>智能家居设备管理系统</a:t>
            </a:r>
            <a:endParaRPr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93974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9D4E3-F6D4-6B80-C704-C33564321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55905E-8337-0CF9-BB33-09A6D866C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794271"/>
            <a:ext cx="11737304" cy="5515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5. </a:t>
            </a: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实验报告要求</a:t>
            </a:r>
            <a:endParaRPr lang="en-US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除对软件设计、实现和测试进行必要描述以及附上源代码外，还需在实验报告中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回答以下问题：</a:t>
            </a:r>
          </a:p>
          <a:p>
            <a:pPr lvl="0"/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封装分析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：哪些属性被封装了？为什么要将这些属性设为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private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？</a:t>
            </a:r>
          </a:p>
          <a:p>
            <a:pPr lvl="0"/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继承层次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：画出完整的类继承图，说明每个子类继承了哪些特性？</a:t>
            </a:r>
          </a:p>
          <a:p>
            <a:pPr lvl="0"/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多态体现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  <a:p>
            <a:pPr lvl="1"/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 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HomeManager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 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的哪个方法中体现了多态？</a:t>
            </a:r>
          </a:p>
          <a:p>
            <a:pPr lvl="1"/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如果添加新的设备类型，需要修改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 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HomeManager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 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类吗？为什么？</a:t>
            </a:r>
          </a:p>
          <a:p>
            <a:pPr lvl="0"/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设计原则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  <a:p>
            <a:pPr lvl="1"/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这个设计是否符合开闭原则？请举例说明。</a:t>
            </a:r>
          </a:p>
          <a:p>
            <a:pPr lvl="1"/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每个类的职责是否单一？分析各个类的职责。</a:t>
            </a:r>
          </a:p>
          <a:p>
            <a:pPr lvl="0"/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改进建议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：你认为这个系统在面向对象设计方面还有哪些可以改进的地方？</a:t>
            </a:r>
            <a:endParaRPr lang="zh-CN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5564C1-8DB8-26BD-F572-45131D7D0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D21DDF-13A2-49D4-85F6-8B62C10E5A92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47138993-FEF6-57EA-27EE-2793EE8E0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821655"/>
          </a:xfrm>
        </p:spPr>
        <p:txBody>
          <a:bodyPr/>
          <a:lstStyle/>
          <a:p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b="1" dirty="0"/>
              <a:t>智能家居设备管理系统</a:t>
            </a:r>
            <a:endParaRPr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28869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402FB-9C55-4E98-C3C5-53A4FE457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822717-93C5-858C-21C1-957953671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794271"/>
            <a:ext cx="11737304" cy="5083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实验报告提交</a:t>
            </a:r>
            <a:endParaRPr lang="en-US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截止日期：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日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22:00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提交形式：电子版（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Word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PDF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文档名称：学号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姓名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2.docx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（或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pdf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），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请务必按这个格式命名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！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QQ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邮箱（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3374279502@qq.com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）统一提交给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谷雨萌同学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邮件标题与文件名称一致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，然后由她打包发给我。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9E987A-96D0-C214-557B-A05D18E5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D21DDF-13A2-49D4-85F6-8B62C10E5A92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81887396-F26B-E40B-E7BB-829C1D987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821655"/>
          </a:xfrm>
        </p:spPr>
        <p:txBody>
          <a:bodyPr/>
          <a:lstStyle/>
          <a:p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实验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CN" altLang="zh-CN" b="1" dirty="0"/>
              <a:t>智能家居设备管理系统</a:t>
            </a:r>
            <a:endParaRPr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12367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4552</TotalTime>
  <Words>806</Words>
  <Application>Microsoft Macintosh PowerPoint</Application>
  <PresentationFormat>宽屏</PresentationFormat>
  <Paragraphs>83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华文彩云</vt:lpstr>
      <vt:lpstr>华文细黑</vt:lpstr>
      <vt:lpstr>浪漫雅圆</vt:lpstr>
      <vt:lpstr>Microsoft YaHei</vt:lpstr>
      <vt:lpstr>Arial</vt:lpstr>
      <vt:lpstr>Calibri</vt:lpstr>
      <vt:lpstr>Stencil</vt:lpstr>
      <vt:lpstr>Times New Roman</vt:lpstr>
      <vt:lpstr>Wingdings</vt:lpstr>
      <vt:lpstr>Office 主题</vt:lpstr>
      <vt:lpstr>软件构造-实验2</vt:lpstr>
      <vt:lpstr>实验2：智能家居设备管理系统</vt:lpstr>
      <vt:lpstr>实验2：智能家居设备管理系统</vt:lpstr>
      <vt:lpstr>实验2：智能家居设备管理系统</vt:lpstr>
      <vt:lpstr>实验2：智能家居设备管理系统</vt:lpstr>
      <vt:lpstr>实验2：智能家居设备管理系统</vt:lpstr>
      <vt:lpstr>实验2：智能家居设备管理系统</vt:lpstr>
    </vt:vector>
  </TitlesOfParts>
  <Company>许多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述职报告ID20080009</dc:title>
  <dc:creator>Ideappt</dc:creator>
  <dc:description>www.ideappt.com</dc:description>
  <cp:lastModifiedBy>Zengyang Li</cp:lastModifiedBy>
  <cp:revision>114</cp:revision>
  <dcterms:created xsi:type="dcterms:W3CDTF">2008-12-23T13:27:03Z</dcterms:created>
  <dcterms:modified xsi:type="dcterms:W3CDTF">2025-10-17T01:25:47Z</dcterms:modified>
</cp:coreProperties>
</file>